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55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spPr>
            <a:ln w="31750" cap="flat">
              <a:solidFill>
                <a:srgbClr val="456A8C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Sheet1!$A$2:$A$9</c:f>
              <c:strCache>
                <c:ptCount val="8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95</c:v>
                </c:pt>
                <c:pt idx="1">
                  <c:v>90</c:v>
                </c:pt>
                <c:pt idx="2">
                  <c:v>78</c:v>
                </c:pt>
                <c:pt idx="3">
                  <c:v>55</c:v>
                </c:pt>
                <c:pt idx="4">
                  <c:v>35</c:v>
                </c:pt>
                <c:pt idx="5">
                  <c:v>22</c:v>
                </c:pt>
                <c:pt idx="6">
                  <c:v>15</c:v>
                </c:pt>
                <c:pt idx="7">
                  <c:v>12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</c:v>
                </c:pt>
              </c:strCache>
            </c:strRef>
          </c:tx>
          <c:spPr>
            <a:ln w="31750" cap="flat">
              <a:solidFill>
                <a:srgbClr val="C1462A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Sheet1!$A$2:$A$9</c:f>
              <c:strCache>
                <c:ptCount val="8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5</c:v>
                </c:pt>
                <c:pt idx="1">
                  <c:v>12</c:v>
                </c:pt>
                <c:pt idx="2">
                  <c:v>25</c:v>
                </c:pt>
                <c:pt idx="3">
                  <c:v>38</c:v>
                </c:pt>
                <c:pt idx="4">
                  <c:v>42</c:v>
                </c:pt>
                <c:pt idx="5">
                  <c:v>33</c:v>
                </c:pt>
                <c:pt idx="6">
                  <c:v>20</c:v>
                </c:pt>
                <c:pt idx="7">
                  <c:v>10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</c:v>
                </c:pt>
              </c:strCache>
            </c:strRef>
          </c:tx>
          <c:spPr>
            <a:ln w="31750" cap="flat">
              <a:solidFill>
                <a:srgbClr val="597A4E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Sheet1!$A$2:$A$9</c:f>
              <c:strCache>
                <c:ptCount val="8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</c:strCache>
            </c: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0</c:v>
                </c:pt>
                <c:pt idx="1">
                  <c:v>2</c:v>
                </c:pt>
                <c:pt idx="2">
                  <c:v>8</c:v>
                </c:pt>
                <c:pt idx="3">
                  <c:v>18</c:v>
                </c:pt>
                <c:pt idx="4">
                  <c:v>32</c:v>
                </c:pt>
                <c:pt idx="5">
                  <c:v>50</c:v>
                </c:pt>
                <c:pt idx="6">
                  <c:v>68</c:v>
                </c:pt>
                <c:pt idx="7">
                  <c:v>80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908479088"/>
        <c:axId val="1908479632"/>
      </c:lineChart>
      <c:catAx>
        <c:axId val="1908479088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crossAx val="1908479632"/>
        <c:crosses val="autoZero"/>
        <c:auto val="1"/>
        <c:lblAlgn val="ctr"/>
        <c:lblOffset val="100"/>
        <c:noMultiLvlLbl val="1"/>
      </c:catAx>
      <c:valAx>
        <c:axId val="190847963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1908479088"/>
        <c:crosses val="autoZero"/>
        <c:crossBetween val="between"/>
      </c:valAx>
      <c:spPr>
        <a:solidFill>
          <a:srgbClr val="FBFBF6"/>
        </a:solidFill>
        <a:ln>
          <a:noFill/>
        </a:ln>
        <a:effectLst/>
      </c:spPr>
    </c:plotArea>
    <c:legend>
      <c:legendPos val="b"/>
      <c:layout/>
      <c:overlay val="0"/>
      <c:txPr>
        <a:bodyPr/>
        <a:lstStyle/>
        <a:p>
          <a:pPr>
            <a:defRPr sz="900">
              <a:solidFill>
                <a:srgbClr val="4A5A56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BFBF6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10488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1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4A5A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CSE 402 · NUMERICAL ANALYSIS, SIMULATION &amp; MODELING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7863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1C2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Numerical Analysis of the </a:t>
            </a:r>
            <a:r>
              <a:rPr lang="en-US" sz="4000" b="1" i="1" dirty="0">
                <a:solidFill>
                  <a:srgbClr val="C146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SIR Epidemic Model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251460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4A5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Solver accuracy, parameter estimation, and robustness to noisy observations — a controlled numerical study using the classical epidemic model as a testbed.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3611880"/>
            <a:ext cx="1554480" cy="384048"/>
          </a:xfrm>
          <a:prstGeom prst="rect">
            <a:avLst/>
          </a:prstGeom>
          <a:solidFill>
            <a:srgbClr val="FBFBF6"/>
          </a:solidFill>
          <a:ln w="12700">
            <a:solidFill>
              <a:srgbClr val="DCDF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361188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5A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RQ1 · Solvers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340864" y="3611880"/>
            <a:ext cx="2560320" cy="384048"/>
          </a:xfrm>
          <a:prstGeom prst="rect">
            <a:avLst/>
          </a:prstGeom>
          <a:solidFill>
            <a:srgbClr val="FBFBF6"/>
          </a:solidFill>
          <a:ln w="12700">
            <a:solidFill>
              <a:srgbClr val="DCDFC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40864" y="36118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5A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RQ2 · Parameter recovery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047488" y="3611880"/>
            <a:ext cx="2377440" cy="384048"/>
          </a:xfrm>
          <a:prstGeom prst="rect">
            <a:avLst/>
          </a:prstGeom>
          <a:solidFill>
            <a:srgbClr val="FBFBF6"/>
          </a:solidFill>
          <a:ln w="12700">
            <a:solidFill>
              <a:srgbClr val="DCDFC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47488" y="361188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5A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RQ3 · Noise &amp; sampling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8823960" y="960120"/>
            <a:ext cx="2743200" cy="3200400"/>
          </a:xfrm>
          <a:prstGeom prst="rect">
            <a:avLst/>
          </a:prstGeom>
          <a:solidFill>
            <a:srgbClr val="FBFBF6"/>
          </a:solidFill>
          <a:ln w="12700">
            <a:solidFill>
              <a:srgbClr val="DCDFCF"/>
            </a:solidFill>
            <a:prstDash val="solid"/>
          </a:ln>
          <a:effectLst>
            <a:outerShdw blurRad="127000" dist="38100" dir="5400000" algn="bl" rotWithShape="0">
              <a:srgbClr val="1C2B2A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052560" y="11430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· I · R over time</a:t>
            </a:r>
            <a:endParaRPr lang="en-US" sz="900" dirty="0"/>
          </a:p>
        </p:txBody>
      </p:sp>
      <p:graphicFrame>
        <p:nvGraphicFramePr>
          <p:cNvPr id="13" name="Chart 0"/>
          <p:cNvGraphicFramePr/>
          <p:nvPr/>
        </p:nvGraphicFramePr>
        <p:xfrm>
          <a:off x="8915400" y="1508760"/>
          <a:ext cx="256032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4" name="Text 11"/>
          <p:cNvSpPr/>
          <p:nvPr/>
        </p:nvSpPr>
        <p:spPr>
          <a:xfrm>
            <a:off x="8915400" y="37947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5A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dS/dt = −βSI/N     dI/dt = βSI/N − γI     dR/dt = γI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640080" y="4343400"/>
            <a:ext cx="10927080" cy="1874520"/>
          </a:xfrm>
          <a:prstGeom prst="rect">
            <a:avLst/>
          </a:prstGeom>
          <a:solidFill>
            <a:srgbClr val="FBFBF6"/>
          </a:solidFill>
          <a:ln w="12700">
            <a:solidFill>
              <a:srgbClr val="DCDFCF"/>
            </a:solidFill>
            <a:prstDash val="solid"/>
          </a:ln>
          <a:effectLst>
            <a:outerShdw blurRad="127000" dist="38100" dir="5400000" algn="bl" rotWithShape="0">
              <a:srgbClr val="1C2B2A">
                <a:alpha val="1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914400" y="4526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4A5A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 GROUP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7315200" y="45262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A5A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Section: ___    Subsection(s): ___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914400" y="4937760"/>
            <a:ext cx="2075688" cy="1097280"/>
          </a:xfrm>
          <a:prstGeom prst="rect">
            <a:avLst/>
          </a:prstGeom>
          <a:solidFill>
            <a:srgbClr val="F1F3EC"/>
          </a:solidFill>
          <a:ln w="12700">
            <a:solidFill>
              <a:srgbClr val="DCDFC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024128" y="50292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146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024128" y="5257800"/>
            <a:ext cx="18562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C2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Member 1 (Contact)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3108960" y="4937760"/>
            <a:ext cx="2075688" cy="1097280"/>
          </a:xfrm>
          <a:prstGeom prst="rect">
            <a:avLst/>
          </a:prstGeom>
          <a:solidFill>
            <a:srgbClr val="F1F3EC"/>
          </a:solidFill>
          <a:ln w="12700">
            <a:solidFill>
              <a:srgbClr val="DCDFC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218688" y="50292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146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3218688" y="5257800"/>
            <a:ext cx="18562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C2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Member 2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5303520" y="4937760"/>
            <a:ext cx="2075688" cy="1097280"/>
          </a:xfrm>
          <a:prstGeom prst="rect">
            <a:avLst/>
          </a:prstGeom>
          <a:solidFill>
            <a:srgbClr val="F1F3EC"/>
          </a:solidFill>
          <a:ln w="12700">
            <a:solidFill>
              <a:srgbClr val="DCDFC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413248" y="50292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146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5413248" y="5257800"/>
            <a:ext cx="18562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C2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Member 3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7498080" y="4937760"/>
            <a:ext cx="2075688" cy="1097280"/>
          </a:xfrm>
          <a:prstGeom prst="rect">
            <a:avLst/>
          </a:prstGeom>
          <a:solidFill>
            <a:srgbClr val="F1F3EC"/>
          </a:solidFill>
          <a:ln w="12700">
            <a:solidFill>
              <a:srgbClr val="DCDF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607808" y="50292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146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7607808" y="5257800"/>
            <a:ext cx="18562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C2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Member 4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9692640" y="4937760"/>
            <a:ext cx="2075688" cy="1097280"/>
          </a:xfrm>
          <a:prstGeom prst="rect">
            <a:avLst/>
          </a:prstGeom>
          <a:solidFill>
            <a:srgbClr val="F1F3EC"/>
          </a:solidFill>
          <a:ln w="12700">
            <a:solidFill>
              <a:srgbClr val="DCDFCF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802368" y="50292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146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9802368" y="5257800"/>
            <a:ext cx="18562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C2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Member 5</a:t>
            </a:r>
            <a:endParaRPr lang="en-US" sz="1050" dirty="0"/>
          </a:p>
        </p:txBody>
      </p:sp>
      <p:sp>
        <p:nvSpPr>
          <p:cNvPr id="33" name="Shape 15"/>
          <p:cNvSpPr/>
          <p:nvPr/>
        </p:nvSpPr>
        <p:spPr>
          <a:xfrm>
            <a:off x="725081" y="4937760"/>
            <a:ext cx="2075688" cy="1097280"/>
          </a:xfrm>
          <a:prstGeom prst="rect">
            <a:avLst/>
          </a:prstGeom>
          <a:solidFill>
            <a:srgbClr val="F1F3EC"/>
          </a:solidFill>
          <a:ln w="12700">
            <a:solidFill>
              <a:srgbClr val="DCDFCF"/>
            </a:solidFill>
            <a:prstDash val="solid"/>
          </a:ln>
        </p:spPr>
      </p:sp>
      <p:sp>
        <p:nvSpPr>
          <p:cNvPr id="34" name="Text 17"/>
          <p:cNvSpPr/>
          <p:nvPr/>
        </p:nvSpPr>
        <p:spPr>
          <a:xfrm>
            <a:off x="834809" y="5257800"/>
            <a:ext cx="18562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C2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Member 1 </a:t>
            </a:r>
            <a:endParaRPr lang="en-US" sz="1050" dirty="0">
              <a:solidFill>
                <a:srgbClr val="1C2B2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r>
              <a:rPr lang="en-US" sz="1050" dirty="0" err="1" smtClean="0">
                <a:solidFill>
                  <a:srgbClr val="1C2B2A"/>
                </a:solidFill>
                <a:latin typeface="Arial" pitchFamily="34" charset="0"/>
                <a:cs typeface="Arial" pitchFamily="34" charset="-120"/>
              </a:rPr>
              <a:t>Saif</a:t>
            </a:r>
            <a:r>
              <a:rPr lang="en-US" sz="1050" dirty="0" smtClean="0">
                <a:solidFill>
                  <a:srgbClr val="1C2B2A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sz="1050" dirty="0" err="1" smtClean="0">
                <a:solidFill>
                  <a:srgbClr val="1C2B2A"/>
                </a:solidFill>
                <a:latin typeface="Arial" pitchFamily="34" charset="0"/>
                <a:cs typeface="Arial" pitchFamily="34" charset="-120"/>
              </a:rPr>
              <a:t>Uz</a:t>
            </a:r>
            <a:r>
              <a:rPr lang="en-US" sz="1050" dirty="0" smtClean="0">
                <a:solidFill>
                  <a:srgbClr val="1C2B2A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sz="1050" dirty="0" err="1" smtClean="0">
                <a:solidFill>
                  <a:srgbClr val="1C2B2A"/>
                </a:solidFill>
                <a:latin typeface="Arial" pitchFamily="34" charset="0"/>
                <a:cs typeface="Arial" pitchFamily="34" charset="-120"/>
              </a:rPr>
              <a:t>Zaman</a:t>
            </a:r>
            <a:endParaRPr lang="en-US" sz="1050" dirty="0"/>
          </a:p>
        </p:txBody>
      </p:sp>
      <p:sp>
        <p:nvSpPr>
          <p:cNvPr id="35" name="Shape 18"/>
          <p:cNvSpPr/>
          <p:nvPr/>
        </p:nvSpPr>
        <p:spPr>
          <a:xfrm>
            <a:off x="2919641" y="4937760"/>
            <a:ext cx="2075688" cy="1097280"/>
          </a:xfrm>
          <a:prstGeom prst="rect">
            <a:avLst/>
          </a:prstGeom>
          <a:solidFill>
            <a:srgbClr val="F1F3EC"/>
          </a:solidFill>
          <a:ln w="12700">
            <a:solidFill>
              <a:srgbClr val="DCDFCF"/>
            </a:solidFill>
            <a:prstDash val="solid"/>
          </a:ln>
        </p:spPr>
      </p:sp>
      <p:sp>
        <p:nvSpPr>
          <p:cNvPr id="36" name="Text 20"/>
          <p:cNvSpPr/>
          <p:nvPr/>
        </p:nvSpPr>
        <p:spPr>
          <a:xfrm>
            <a:off x="3029369" y="5257800"/>
            <a:ext cx="18562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C2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Member </a:t>
            </a:r>
            <a:r>
              <a:rPr lang="en-US" sz="1050" dirty="0" smtClean="0">
                <a:solidFill>
                  <a:srgbClr val="1C2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</a:p>
          <a:p>
            <a:pPr marL="0" indent="0">
              <a:buNone/>
            </a:pPr>
            <a:r>
              <a:rPr lang="en-US" sz="1050" dirty="0" err="1" smtClean="0">
                <a:solidFill>
                  <a:srgbClr val="1C2B2A"/>
                </a:solidFill>
                <a:latin typeface="Arial" pitchFamily="34" charset="0"/>
                <a:cs typeface="Arial" pitchFamily="34" charset="-120"/>
              </a:rPr>
              <a:t>Sayaad</a:t>
            </a:r>
            <a:r>
              <a:rPr lang="en-US" sz="1050" dirty="0" smtClean="0">
                <a:solidFill>
                  <a:srgbClr val="1C2B2A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sz="1050" dirty="0" err="1" smtClean="0">
                <a:solidFill>
                  <a:srgbClr val="1C2B2A"/>
                </a:solidFill>
                <a:latin typeface="Arial" pitchFamily="34" charset="0"/>
                <a:cs typeface="Arial" pitchFamily="34" charset="-120"/>
              </a:rPr>
              <a:t>Muzahid</a:t>
            </a:r>
            <a:r>
              <a:rPr lang="en-US" sz="1050" dirty="0" smtClean="0">
                <a:solidFill>
                  <a:srgbClr val="1C2B2A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sz="1050" dirty="0" err="1" smtClean="0">
                <a:solidFill>
                  <a:srgbClr val="1C2B2A"/>
                </a:solidFill>
                <a:latin typeface="Arial" pitchFamily="34" charset="0"/>
                <a:cs typeface="Arial" pitchFamily="34" charset="-120"/>
              </a:rPr>
              <a:t>Masfi</a:t>
            </a:r>
            <a:r>
              <a:rPr lang="en-US" sz="1050" dirty="0" smtClean="0">
                <a:solidFill>
                  <a:srgbClr val="1C2B2A"/>
                </a:solidFill>
                <a:latin typeface="Arial" pitchFamily="34" charset="0"/>
                <a:cs typeface="Arial" pitchFamily="34" charset="-120"/>
              </a:rPr>
              <a:t/>
            </a:r>
            <a:br>
              <a:rPr lang="en-US" sz="1050" dirty="0" smtClean="0">
                <a:solidFill>
                  <a:srgbClr val="1C2B2A"/>
                </a:solidFill>
                <a:latin typeface="Arial" pitchFamily="34" charset="0"/>
                <a:cs typeface="Arial" pitchFamily="34" charset="-120"/>
              </a:rPr>
            </a:br>
            <a:r>
              <a:rPr lang="en-US" sz="1050" dirty="0" smtClean="0">
                <a:solidFill>
                  <a:srgbClr val="1C2B2A"/>
                </a:solidFill>
                <a:latin typeface="Arial" pitchFamily="34" charset="0"/>
                <a:cs typeface="Arial" pitchFamily="34" charset="-120"/>
              </a:rPr>
              <a:t>(Presenter)</a:t>
            </a:r>
            <a:endParaRPr lang="en-US" sz="1050" dirty="0"/>
          </a:p>
        </p:txBody>
      </p:sp>
      <p:sp>
        <p:nvSpPr>
          <p:cNvPr id="37" name="Shape 21"/>
          <p:cNvSpPr/>
          <p:nvPr/>
        </p:nvSpPr>
        <p:spPr>
          <a:xfrm>
            <a:off x="5114201" y="4937760"/>
            <a:ext cx="2075688" cy="1097280"/>
          </a:xfrm>
          <a:prstGeom prst="rect">
            <a:avLst/>
          </a:prstGeom>
          <a:solidFill>
            <a:srgbClr val="F1F3EC"/>
          </a:solidFill>
          <a:ln w="12700">
            <a:solidFill>
              <a:srgbClr val="DCDFCF"/>
            </a:solidFill>
            <a:prstDash val="solid"/>
          </a:ln>
        </p:spPr>
      </p:sp>
      <p:sp>
        <p:nvSpPr>
          <p:cNvPr id="38" name="Text 23"/>
          <p:cNvSpPr/>
          <p:nvPr/>
        </p:nvSpPr>
        <p:spPr>
          <a:xfrm>
            <a:off x="5223929" y="5257800"/>
            <a:ext cx="18562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C2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Member </a:t>
            </a:r>
            <a:r>
              <a:rPr lang="en-US" sz="1050" dirty="0" smtClean="0">
                <a:solidFill>
                  <a:srgbClr val="1C2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</a:p>
          <a:p>
            <a:pPr marL="0" indent="0">
              <a:buNone/>
            </a:pPr>
            <a:r>
              <a:rPr lang="en-US" sz="1050" dirty="0" err="1" smtClean="0">
                <a:solidFill>
                  <a:srgbClr val="1C2B2A"/>
                </a:solidFill>
                <a:latin typeface="Arial" pitchFamily="34" charset="0"/>
                <a:cs typeface="Arial" pitchFamily="34" charset="-120"/>
              </a:rPr>
              <a:t>Ibtida</a:t>
            </a:r>
            <a:r>
              <a:rPr lang="en-US" sz="1050" dirty="0" smtClean="0">
                <a:solidFill>
                  <a:srgbClr val="1C2B2A"/>
                </a:solidFill>
                <a:latin typeface="Arial" pitchFamily="34" charset="0"/>
                <a:cs typeface="Arial" pitchFamily="34" charset="-120"/>
              </a:rPr>
              <a:t> bin Ahmed</a:t>
            </a:r>
            <a:endParaRPr lang="en-US" sz="1050" dirty="0"/>
          </a:p>
        </p:txBody>
      </p:sp>
      <p:sp>
        <p:nvSpPr>
          <p:cNvPr id="39" name="Shape 24"/>
          <p:cNvSpPr/>
          <p:nvPr/>
        </p:nvSpPr>
        <p:spPr>
          <a:xfrm>
            <a:off x="7308761" y="4937760"/>
            <a:ext cx="2075688" cy="1097280"/>
          </a:xfrm>
          <a:prstGeom prst="rect">
            <a:avLst/>
          </a:prstGeom>
          <a:solidFill>
            <a:srgbClr val="F1F3EC"/>
          </a:solidFill>
          <a:ln w="12700">
            <a:solidFill>
              <a:srgbClr val="DCDFCF"/>
            </a:solidFill>
            <a:prstDash val="solid"/>
          </a:ln>
        </p:spPr>
      </p:sp>
      <p:sp>
        <p:nvSpPr>
          <p:cNvPr id="40" name="Text 26"/>
          <p:cNvSpPr/>
          <p:nvPr/>
        </p:nvSpPr>
        <p:spPr>
          <a:xfrm>
            <a:off x="7418489" y="5257800"/>
            <a:ext cx="18562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C2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Member </a:t>
            </a:r>
            <a:r>
              <a:rPr lang="en-US" sz="1050" dirty="0" smtClean="0">
                <a:solidFill>
                  <a:srgbClr val="1C2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</a:p>
          <a:p>
            <a:pPr marL="0" indent="0">
              <a:buNone/>
            </a:pPr>
            <a:r>
              <a:rPr lang="en-US" sz="1050" dirty="0" err="1" smtClean="0">
                <a:solidFill>
                  <a:srgbClr val="1C2B2A"/>
                </a:solidFill>
                <a:latin typeface="Arial" pitchFamily="34" charset="0"/>
                <a:cs typeface="Arial" pitchFamily="34" charset="-120"/>
              </a:rPr>
              <a:t>Sakif</a:t>
            </a:r>
            <a:r>
              <a:rPr lang="en-US" sz="1050" dirty="0" smtClean="0">
                <a:solidFill>
                  <a:srgbClr val="1C2B2A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sz="1050" dirty="0" err="1" smtClean="0">
                <a:solidFill>
                  <a:srgbClr val="1C2B2A"/>
                </a:solidFill>
                <a:latin typeface="Arial" pitchFamily="34" charset="0"/>
                <a:cs typeface="Arial" pitchFamily="34" charset="-120"/>
              </a:rPr>
              <a:t>Naieb</a:t>
            </a:r>
            <a:r>
              <a:rPr lang="en-US" sz="1050" dirty="0" smtClean="0">
                <a:solidFill>
                  <a:srgbClr val="1C2B2A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sz="1050" dirty="0" err="1" smtClean="0">
                <a:solidFill>
                  <a:srgbClr val="1C2B2A"/>
                </a:solidFill>
                <a:latin typeface="Arial" pitchFamily="34" charset="0"/>
                <a:cs typeface="Arial" pitchFamily="34" charset="-120"/>
              </a:rPr>
              <a:t>Raiyan</a:t>
            </a:r>
            <a:endParaRPr lang="en-US" sz="1050" dirty="0"/>
          </a:p>
        </p:txBody>
      </p:sp>
      <p:sp>
        <p:nvSpPr>
          <p:cNvPr id="41" name="Shape 27"/>
          <p:cNvSpPr/>
          <p:nvPr/>
        </p:nvSpPr>
        <p:spPr>
          <a:xfrm>
            <a:off x="9503321" y="4937760"/>
            <a:ext cx="2075688" cy="1097280"/>
          </a:xfrm>
          <a:prstGeom prst="rect">
            <a:avLst/>
          </a:prstGeom>
          <a:solidFill>
            <a:srgbClr val="F1F3EC"/>
          </a:solidFill>
          <a:ln w="12700">
            <a:solidFill>
              <a:srgbClr val="DCDFCF"/>
            </a:solidFill>
            <a:prstDash val="solid"/>
          </a:ln>
        </p:spPr>
      </p:sp>
      <p:sp>
        <p:nvSpPr>
          <p:cNvPr id="42" name="Text 29"/>
          <p:cNvSpPr/>
          <p:nvPr/>
        </p:nvSpPr>
        <p:spPr>
          <a:xfrm>
            <a:off x="9613049" y="5257800"/>
            <a:ext cx="18562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C2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Member </a:t>
            </a:r>
            <a:r>
              <a:rPr lang="en-US" sz="1050" dirty="0" smtClean="0">
                <a:solidFill>
                  <a:srgbClr val="1C2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</a:p>
          <a:p>
            <a:pPr marL="0" indent="0">
              <a:buNone/>
            </a:pPr>
            <a:r>
              <a:rPr lang="en-US" sz="1050" dirty="0" err="1" smtClean="0">
                <a:solidFill>
                  <a:srgbClr val="1C2B2A"/>
                </a:solidFill>
                <a:latin typeface="Arial" pitchFamily="34" charset="0"/>
                <a:cs typeface="Arial" pitchFamily="34" charset="-120"/>
              </a:rPr>
              <a:t>Aurchi</a:t>
            </a:r>
            <a:r>
              <a:rPr lang="en-US" sz="1050" dirty="0" smtClean="0">
                <a:solidFill>
                  <a:srgbClr val="1C2B2A"/>
                </a:solidFill>
                <a:latin typeface="Arial" pitchFamily="34" charset="0"/>
                <a:cs typeface="Arial" pitchFamily="34" charset="-120"/>
              </a:rPr>
              <a:t> Chowdhury</a:t>
            </a:r>
          </a:p>
          <a:p>
            <a:pPr marL="0" indent="0">
              <a:buNone/>
            </a:pP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4A5A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 PAPER OVERVIEW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2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Grounded in a published base paper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A5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are not reproducing prior work — we use it as a foundation and push the numerical-analysis angle further.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5257800" cy="4251960"/>
          </a:xfrm>
          <a:prstGeom prst="rect">
            <a:avLst/>
          </a:prstGeom>
          <a:solidFill>
            <a:srgbClr val="FBFBF6"/>
          </a:solidFill>
          <a:ln w="12700">
            <a:solidFill>
              <a:srgbClr val="DCDFCF"/>
            </a:solidFill>
            <a:prstDash val="solid"/>
          </a:ln>
          <a:effectLst>
            <a:outerShdw blurRad="127000" dist="38100" dir="5400000" algn="bl" rotWithShape="0">
              <a:srgbClr val="1C2B2A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331720"/>
            <a:ext cx="1280160" cy="310896"/>
          </a:xfrm>
          <a:prstGeom prst="rect">
            <a:avLst/>
          </a:prstGeom>
          <a:solidFill>
            <a:srgbClr val="F4EAC9"/>
          </a:solidFill>
          <a:ln w="12700">
            <a:solidFill>
              <a:srgbClr val="E6D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331720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A6B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 PAPER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14400" y="2788920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C2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Capaldi et al. (2012)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14400" y="3246120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4A5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 estimation and uncertainty quantification for an epidemic model. Mathematical Biosciences and Engineering, 9(3), 553–576.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4023360"/>
            <a:ext cx="4709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A5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SIR parameter estimation via least squares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A5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Uncertainty in estimated parameters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A5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Sensitivity &amp; β–γ correlation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A5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 of sampling frequency on estimation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14400" y="580644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146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doi.org/10.3934/mbe.2012.9.553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26480" y="2057400"/>
            <a:ext cx="5422392" cy="4251960"/>
          </a:xfrm>
          <a:prstGeom prst="rect">
            <a:avLst/>
          </a:prstGeom>
          <a:solidFill>
            <a:srgbClr val="FBFBF6"/>
          </a:solidFill>
          <a:ln w="12700">
            <a:solidFill>
              <a:srgbClr val="DCDFCF"/>
            </a:solidFill>
            <a:prstDash val="solid"/>
          </a:ln>
          <a:effectLst>
            <a:outerShdw blurRad="127000" dist="38100" dir="5400000" algn="bl" rotWithShape="0">
              <a:srgbClr val="1C2B2A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0" y="2331720"/>
            <a:ext cx="1417320" cy="310896"/>
          </a:xfrm>
          <a:prstGeom prst="rect">
            <a:avLst/>
          </a:prstGeom>
          <a:solidFill>
            <a:srgbClr val="DCEEE6"/>
          </a:solidFill>
          <a:ln w="12700">
            <a:solidFill>
              <a:srgbClr val="B6D9C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2331720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C5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OUR EXTENSION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400800" y="2788920"/>
            <a:ext cx="4892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C2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Solver behavior as the central variable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6400800" y="3520440"/>
            <a:ext cx="4892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A5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base paper treats the ODE solve as a black box. We make it the main experimental subject — implementing Euler, Heun, and RK4 ourselves, then asking how solver accuracy propagates into estimated β and γ.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400800" y="4846320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A5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Solver error, convergence order &amp; stability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A5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 of solver choice on recovered parameters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A5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Controlled noise &amp; sampling-frequency experiments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00800" y="598932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5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Supporting reference: Prodanov (2021), Entropy 23(1), 59.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4A5A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PROBLEM STATEMENT &amp; SCOPE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2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problem are we solving?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4A5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base paper estimates SIR parameters but treats the numerical solver as a fixed black box. We ask: does the choice and accuracy of the ODE solver materially affect the parameters we recover — especially once real-world imperfections (noise, sparse sampling) are introduced?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3520440" cy="2743200"/>
          </a:xfrm>
          <a:prstGeom prst="rect">
            <a:avLst/>
          </a:prstGeom>
          <a:solidFill>
            <a:srgbClr val="FBFBF6"/>
          </a:solidFill>
          <a:ln w="12700">
            <a:solidFill>
              <a:srgbClr val="DCDFCF"/>
            </a:solidFill>
            <a:prstDash val="solid"/>
          </a:ln>
          <a:effectLst>
            <a:outerShdw blurRad="127000" dist="38100" dir="5400000" algn="bl" rotWithShape="0">
              <a:srgbClr val="1C2B2A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606040"/>
            <a:ext cx="777240" cy="310896"/>
          </a:xfrm>
          <a:prstGeom prst="rect">
            <a:avLst/>
          </a:prstGeom>
          <a:solidFill>
            <a:srgbClr val="456A8C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606040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RQ1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306324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C2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Solver comparison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914400" y="365760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A5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 Forward Euler, Heun, and RK4 differ in accuracy, convergence order, and numerical stability when solving the SIR system?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43400" y="2331720"/>
            <a:ext cx="3520440" cy="2743200"/>
          </a:xfrm>
          <a:prstGeom prst="rect">
            <a:avLst/>
          </a:prstGeom>
          <a:solidFill>
            <a:srgbClr val="FBFBF6"/>
          </a:solidFill>
          <a:ln w="12700">
            <a:solidFill>
              <a:srgbClr val="DCDFCF"/>
            </a:solidFill>
            <a:prstDash val="solid"/>
          </a:ln>
          <a:effectLst>
            <a:outerShdw blurRad="127000" dist="38100" dir="5400000" algn="bl" rotWithShape="0">
              <a:srgbClr val="1C2B2A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17720" y="2606040"/>
            <a:ext cx="777240" cy="310896"/>
          </a:xfrm>
          <a:prstGeom prst="rect">
            <a:avLst/>
          </a:prstGeom>
          <a:solidFill>
            <a:srgbClr val="C1462A"/>
          </a:solidFill>
          <a:ln/>
        </p:spPr>
      </p:sp>
      <p:sp>
        <p:nvSpPr>
          <p:cNvPr id="12" name="Text 10"/>
          <p:cNvSpPr/>
          <p:nvPr/>
        </p:nvSpPr>
        <p:spPr>
          <a:xfrm>
            <a:off x="4617720" y="2606040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RQ2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617720" y="306324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C2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Parameter recovery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4617720" y="365760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A5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does the choice of solver propagate into the accuracy of parameters (β, γ) recovered via least-squares estimation on synthetic data?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046720" y="2331720"/>
            <a:ext cx="3520440" cy="2743200"/>
          </a:xfrm>
          <a:prstGeom prst="rect">
            <a:avLst/>
          </a:prstGeom>
          <a:solidFill>
            <a:srgbClr val="FBFBF6"/>
          </a:solidFill>
          <a:ln w="12700">
            <a:solidFill>
              <a:srgbClr val="DCDFCF"/>
            </a:solidFill>
            <a:prstDash val="solid"/>
          </a:ln>
          <a:effectLst>
            <a:outerShdw blurRad="127000" dist="38100" dir="5400000" algn="bl" rotWithShape="0">
              <a:srgbClr val="1C2B2A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21040" y="2606040"/>
            <a:ext cx="777240" cy="310896"/>
          </a:xfrm>
          <a:prstGeom prst="rect">
            <a:avLst/>
          </a:prstGeom>
          <a:solidFill>
            <a:srgbClr val="597A4E"/>
          </a:solidFill>
          <a:ln/>
        </p:spPr>
      </p:sp>
      <p:sp>
        <p:nvSpPr>
          <p:cNvPr id="17" name="Text 15"/>
          <p:cNvSpPr/>
          <p:nvPr/>
        </p:nvSpPr>
        <p:spPr>
          <a:xfrm>
            <a:off x="8321040" y="2606040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RQ3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321040" y="306324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C2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Noise &amp; sampling robustness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8321040" y="365760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A5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robust is parameter recovery to observation noise, reduced sampling frequency, and different initial conditions, and does that robustness hold across a range of true (β, γ) values?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5349240"/>
            <a:ext cx="10908792" cy="868680"/>
          </a:xfrm>
          <a:prstGeom prst="rect">
            <a:avLst/>
          </a:prstGeom>
          <a:solidFill>
            <a:srgbClr val="FBFBF6"/>
          </a:solidFill>
          <a:ln w="12700">
            <a:solidFill>
              <a:srgbClr val="DCDFCF"/>
            </a:solidFill>
            <a:prstDash val="solid"/>
          </a:ln>
          <a:effectLst>
            <a:outerShdw blurRad="127000" dist="38100" dir="5400000" algn="bl" rotWithShape="0">
              <a:srgbClr val="1C2B2A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14400" y="5349240"/>
            <a:ext cx="10378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C2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Scope:  </a:t>
            </a:r>
            <a:r>
              <a:rPr lang="en-US" sz="1250" dirty="0">
                <a:solidFill>
                  <a:srgbClr val="4A5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Fully synthetic pipeline (known ground-truth β, γ) is the core deliverable, with timestep, noise, sampling frequency, initial conditions, and parameter values swept as experimental factors. Applying the same pipeline to real historical case-count data is an optional, time-permitting extension — a demonstration, not a proof.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4A5A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EXPECTED METHODOLOGY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2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hand-written solvers, one pipeline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3520440" cy="2148840"/>
          </a:xfrm>
          <a:prstGeom prst="rect">
            <a:avLst/>
          </a:prstGeom>
          <a:solidFill>
            <a:srgbClr val="FBFBF6"/>
          </a:solidFill>
          <a:ln w="12700">
            <a:solidFill>
              <a:srgbClr val="DCDFCF"/>
            </a:solidFill>
            <a:prstDash val="solid"/>
          </a:ln>
          <a:effectLst>
            <a:outerShdw blurRad="127000" dist="38100" dir="5400000" algn="bl" rotWithShape="0">
              <a:srgbClr val="1C2B2A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627632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146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BASELINE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474720" y="160020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4A5A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O(h)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68680" y="184708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2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Forward Euler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68680" y="2267712"/>
            <a:ext cx="3063240" cy="566928"/>
          </a:xfrm>
          <a:prstGeom prst="rect">
            <a:avLst/>
          </a:prstGeom>
          <a:solidFill>
            <a:srgbClr val="F1F3EC"/>
          </a:solidFill>
          <a:ln w="12700">
            <a:solidFill>
              <a:srgbClr val="D9DEC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2295144"/>
            <a:ext cx="2880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00" dirty="0">
                <a:solidFill>
                  <a:srgbClr val="2A3B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y_(n+1) = y_n + h·f(t_n, y_n)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68680" y="2907792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80" dirty="0">
                <a:solidFill>
                  <a:srgbClr val="4A5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Cheap, O(h) accurate, sensitive to step size — our reference for what goes wrong without care.</a:t>
            </a:r>
            <a:endParaRPr lang="en-US" sz="980" dirty="0"/>
          </a:p>
        </p:txBody>
      </p:sp>
      <p:sp>
        <p:nvSpPr>
          <p:cNvPr id="11" name="Shape 9"/>
          <p:cNvSpPr/>
          <p:nvPr/>
        </p:nvSpPr>
        <p:spPr>
          <a:xfrm>
            <a:off x="4343400" y="1463040"/>
            <a:ext cx="3520440" cy="2148840"/>
          </a:xfrm>
          <a:prstGeom prst="rect">
            <a:avLst/>
          </a:prstGeom>
          <a:solidFill>
            <a:srgbClr val="FBFBF6"/>
          </a:solidFill>
          <a:ln w="12700">
            <a:solidFill>
              <a:srgbClr val="DCDFCF"/>
            </a:solidFill>
            <a:prstDash val="solid"/>
          </a:ln>
          <a:effectLst>
            <a:outerShdw blurRad="127000" dist="38100" dir="5400000" algn="bl" rotWithShape="0">
              <a:srgbClr val="1C2B2A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0" y="1627632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146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PREDICTOR–CORRECTOR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7178040" y="160020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4A5A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O(h²)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0" y="184708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2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Heun's Method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0" y="2267712"/>
            <a:ext cx="3063240" cy="566928"/>
          </a:xfrm>
          <a:prstGeom prst="rect">
            <a:avLst/>
          </a:prstGeom>
          <a:solidFill>
            <a:srgbClr val="F1F3EC"/>
          </a:solidFill>
          <a:ln w="12700">
            <a:solidFill>
              <a:srgbClr val="D9DEC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2295144"/>
            <a:ext cx="2880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00" dirty="0">
                <a:solidFill>
                  <a:srgbClr val="2A3B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y* = y_n + h·f(t_n,y_n)</a:t>
            </a:r>
            <a:endParaRPr lang="en-US" sz="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00" dirty="0">
                <a:solidFill>
                  <a:srgbClr val="2A3B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y_(n+1) = y_n + h/2·[f(t_n,y_n)+f(t_(n+1),y*)]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572000" y="2907792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80" dirty="0">
                <a:solidFill>
                  <a:srgbClr val="4A5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O(h²) accurate — a middle ground between Euler's simplicity and RK4's precision.</a:t>
            </a:r>
            <a:endParaRPr lang="en-US" sz="980" dirty="0"/>
          </a:p>
        </p:txBody>
      </p:sp>
      <p:sp>
        <p:nvSpPr>
          <p:cNvPr id="18" name="Shape 16"/>
          <p:cNvSpPr/>
          <p:nvPr/>
        </p:nvSpPr>
        <p:spPr>
          <a:xfrm>
            <a:off x="8046720" y="1463040"/>
            <a:ext cx="3520440" cy="2148840"/>
          </a:xfrm>
          <a:prstGeom prst="rect">
            <a:avLst/>
          </a:prstGeom>
          <a:solidFill>
            <a:srgbClr val="FBFBF6"/>
          </a:solidFill>
          <a:ln w="12700">
            <a:solidFill>
              <a:srgbClr val="DCDFCF"/>
            </a:solidFill>
            <a:prstDash val="solid"/>
          </a:ln>
          <a:effectLst>
            <a:outerShdw blurRad="127000" dist="38100" dir="5400000" algn="bl" rotWithShape="0">
              <a:srgbClr val="1C2B2A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275320" y="1627632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146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WORKHORSE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0881360" y="160020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4A5A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O(h⁴)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275320" y="184708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2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RK4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275320" y="2267712"/>
            <a:ext cx="3063240" cy="566928"/>
          </a:xfrm>
          <a:prstGeom prst="rect">
            <a:avLst/>
          </a:prstGeom>
          <a:solidFill>
            <a:srgbClr val="F1F3EC"/>
          </a:solidFill>
          <a:ln w="12700">
            <a:solidFill>
              <a:srgbClr val="D9DEC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66760" y="2295144"/>
            <a:ext cx="2880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00" dirty="0">
                <a:solidFill>
                  <a:srgbClr val="2A3B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k1..k4 — four slope evaluations</a:t>
            </a:r>
            <a:endParaRPr lang="en-US" sz="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00" dirty="0">
                <a:solidFill>
                  <a:srgbClr val="2A3B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y_(n+1) = y_n + h/6·(k1+2k2+2k3+k4)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8275320" y="2907792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80" dirty="0">
                <a:solidFill>
                  <a:srgbClr val="4A5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O(h⁴) accurate for smooth problems, at the cost of more evaluations per step.</a:t>
            </a:r>
            <a:endParaRPr lang="en-US" sz="980" dirty="0"/>
          </a:p>
        </p:txBody>
      </p:sp>
      <p:sp>
        <p:nvSpPr>
          <p:cNvPr id="25" name="Text 23"/>
          <p:cNvSpPr/>
          <p:nvPr/>
        </p:nvSpPr>
        <p:spPr>
          <a:xfrm>
            <a:off x="640080" y="37947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4A5A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PIPELINE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40080" y="4160520"/>
            <a:ext cx="384048" cy="384048"/>
          </a:xfrm>
          <a:prstGeom prst="ellipse">
            <a:avLst/>
          </a:prstGeom>
          <a:solidFill>
            <a:srgbClr val="F1F3EC"/>
          </a:solidFill>
          <a:ln w="15875">
            <a:solidFill>
              <a:srgbClr val="1C2B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2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2920" y="4590288"/>
            <a:ext cx="136588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70" dirty="0">
                <a:solidFill>
                  <a:srgbClr val="4A5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up SIR ODEs</a:t>
            </a:r>
            <a:endParaRPr lang="en-US" sz="870" dirty="0"/>
          </a:p>
        </p:txBody>
      </p:sp>
      <p:sp>
        <p:nvSpPr>
          <p:cNvPr id="29" name="Shape 27"/>
          <p:cNvSpPr/>
          <p:nvPr/>
        </p:nvSpPr>
        <p:spPr>
          <a:xfrm>
            <a:off x="1024128" y="4352544"/>
            <a:ext cx="1027557" cy="0"/>
          </a:xfrm>
          <a:prstGeom prst="line">
            <a:avLst/>
          </a:prstGeom>
          <a:noFill/>
          <a:ln w="9525">
            <a:solidFill>
              <a:srgbClr val="4A5A56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2051685" y="4160520"/>
            <a:ext cx="384048" cy="384048"/>
          </a:xfrm>
          <a:prstGeom prst="ellipse">
            <a:avLst/>
          </a:prstGeom>
          <a:solidFill>
            <a:srgbClr val="F1F3EC"/>
          </a:solidFill>
          <a:ln w="15875">
            <a:solidFill>
              <a:srgbClr val="1C2B2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051685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2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914525" y="4590288"/>
            <a:ext cx="136588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70" dirty="0">
                <a:solidFill>
                  <a:srgbClr val="4A5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Euler / Heun / RK4</a:t>
            </a:r>
            <a:endParaRPr lang="en-US" sz="870" dirty="0"/>
          </a:p>
        </p:txBody>
      </p:sp>
      <p:sp>
        <p:nvSpPr>
          <p:cNvPr id="33" name="Shape 31"/>
          <p:cNvSpPr/>
          <p:nvPr/>
        </p:nvSpPr>
        <p:spPr>
          <a:xfrm>
            <a:off x="2435733" y="4352544"/>
            <a:ext cx="1027557" cy="0"/>
          </a:xfrm>
          <a:prstGeom prst="line">
            <a:avLst/>
          </a:prstGeom>
          <a:noFill/>
          <a:ln w="9525">
            <a:solidFill>
              <a:srgbClr val="4A5A56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3463290" y="4160520"/>
            <a:ext cx="384048" cy="384048"/>
          </a:xfrm>
          <a:prstGeom prst="ellipse">
            <a:avLst/>
          </a:prstGeom>
          <a:solidFill>
            <a:srgbClr val="F1F3EC"/>
          </a:solidFill>
          <a:ln w="15875">
            <a:solidFill>
              <a:srgbClr val="1C2B2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6329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2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326130" y="4590288"/>
            <a:ext cx="136588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70" dirty="0">
                <a:solidFill>
                  <a:srgbClr val="4A5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 accuracy &amp; convergence</a:t>
            </a:r>
            <a:endParaRPr lang="en-US" sz="870" dirty="0"/>
          </a:p>
        </p:txBody>
      </p:sp>
      <p:sp>
        <p:nvSpPr>
          <p:cNvPr id="37" name="Shape 35"/>
          <p:cNvSpPr/>
          <p:nvPr/>
        </p:nvSpPr>
        <p:spPr>
          <a:xfrm>
            <a:off x="3847338" y="4352544"/>
            <a:ext cx="1027557" cy="0"/>
          </a:xfrm>
          <a:prstGeom prst="line">
            <a:avLst/>
          </a:prstGeom>
          <a:noFill/>
          <a:ln w="9525">
            <a:solidFill>
              <a:srgbClr val="4A5A56"/>
            </a:solidFill>
            <a:prstDash val="dash"/>
          </a:ln>
        </p:spPr>
      </p:sp>
      <p:sp>
        <p:nvSpPr>
          <p:cNvPr id="38" name="Shape 36"/>
          <p:cNvSpPr/>
          <p:nvPr/>
        </p:nvSpPr>
        <p:spPr>
          <a:xfrm>
            <a:off x="4874895" y="4160520"/>
            <a:ext cx="384048" cy="384048"/>
          </a:xfrm>
          <a:prstGeom prst="ellipse">
            <a:avLst/>
          </a:prstGeom>
          <a:solidFill>
            <a:srgbClr val="F1F3EC"/>
          </a:solidFill>
          <a:ln w="15875">
            <a:solidFill>
              <a:srgbClr val="1C2B2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74895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2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737735" y="4590288"/>
            <a:ext cx="136588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70" dirty="0">
                <a:solidFill>
                  <a:srgbClr val="4A5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stability</a:t>
            </a:r>
            <a:endParaRPr lang="en-US" sz="870" dirty="0"/>
          </a:p>
        </p:txBody>
      </p:sp>
      <p:sp>
        <p:nvSpPr>
          <p:cNvPr id="41" name="Shape 39"/>
          <p:cNvSpPr/>
          <p:nvPr/>
        </p:nvSpPr>
        <p:spPr>
          <a:xfrm>
            <a:off x="5258943" y="4352544"/>
            <a:ext cx="1027557" cy="0"/>
          </a:xfrm>
          <a:prstGeom prst="line">
            <a:avLst/>
          </a:prstGeom>
          <a:noFill/>
          <a:ln w="9525">
            <a:solidFill>
              <a:srgbClr val="4A5A56"/>
            </a:solidFill>
            <a:prstDash val="dash"/>
          </a:ln>
        </p:spPr>
      </p:sp>
      <p:sp>
        <p:nvSpPr>
          <p:cNvPr id="42" name="Shape 40"/>
          <p:cNvSpPr/>
          <p:nvPr/>
        </p:nvSpPr>
        <p:spPr>
          <a:xfrm>
            <a:off x="6286500" y="4160520"/>
            <a:ext cx="384048" cy="384048"/>
          </a:xfrm>
          <a:prstGeom prst="ellipse">
            <a:avLst/>
          </a:prstGeom>
          <a:solidFill>
            <a:srgbClr val="F1F3EC"/>
          </a:solidFill>
          <a:ln w="15875">
            <a:solidFill>
              <a:srgbClr val="1C2B2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8650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2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149340" y="4590288"/>
            <a:ext cx="136588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70" dirty="0">
                <a:solidFill>
                  <a:srgbClr val="4A5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synthetic data (known β, γ)</a:t>
            </a:r>
            <a:endParaRPr lang="en-US" sz="870" dirty="0"/>
          </a:p>
        </p:txBody>
      </p:sp>
      <p:sp>
        <p:nvSpPr>
          <p:cNvPr id="45" name="Shape 43"/>
          <p:cNvSpPr/>
          <p:nvPr/>
        </p:nvSpPr>
        <p:spPr>
          <a:xfrm>
            <a:off x="6670548" y="4352544"/>
            <a:ext cx="1027557" cy="0"/>
          </a:xfrm>
          <a:prstGeom prst="line">
            <a:avLst/>
          </a:prstGeom>
          <a:noFill/>
          <a:ln w="9525">
            <a:solidFill>
              <a:srgbClr val="4A5A56"/>
            </a:solidFill>
            <a:prstDash val="dash"/>
          </a:ln>
        </p:spPr>
      </p:sp>
      <p:sp>
        <p:nvSpPr>
          <p:cNvPr id="46" name="Shape 44"/>
          <p:cNvSpPr/>
          <p:nvPr/>
        </p:nvSpPr>
        <p:spPr>
          <a:xfrm>
            <a:off x="7698105" y="4160520"/>
            <a:ext cx="384048" cy="384048"/>
          </a:xfrm>
          <a:prstGeom prst="ellipse">
            <a:avLst/>
          </a:prstGeom>
          <a:solidFill>
            <a:srgbClr val="F1F3EC"/>
          </a:solidFill>
          <a:ln w="15875">
            <a:solidFill>
              <a:srgbClr val="1C2B2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698105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2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7560945" y="4590288"/>
            <a:ext cx="136588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70" dirty="0">
                <a:solidFill>
                  <a:srgbClr val="4A5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 params (grid search + Gauss-Newton)</a:t>
            </a:r>
            <a:endParaRPr lang="en-US" sz="870" dirty="0"/>
          </a:p>
        </p:txBody>
      </p:sp>
      <p:sp>
        <p:nvSpPr>
          <p:cNvPr id="49" name="Shape 47"/>
          <p:cNvSpPr/>
          <p:nvPr/>
        </p:nvSpPr>
        <p:spPr>
          <a:xfrm>
            <a:off x="8082153" y="4352544"/>
            <a:ext cx="1027557" cy="0"/>
          </a:xfrm>
          <a:prstGeom prst="line">
            <a:avLst/>
          </a:prstGeom>
          <a:noFill/>
          <a:ln w="9525">
            <a:solidFill>
              <a:srgbClr val="4A5A56"/>
            </a:solidFill>
            <a:prstDash val="dash"/>
          </a:ln>
        </p:spPr>
      </p:sp>
      <p:sp>
        <p:nvSpPr>
          <p:cNvPr id="50" name="Shape 48"/>
          <p:cNvSpPr/>
          <p:nvPr/>
        </p:nvSpPr>
        <p:spPr>
          <a:xfrm>
            <a:off x="9109710" y="4160520"/>
            <a:ext cx="384048" cy="384048"/>
          </a:xfrm>
          <a:prstGeom prst="ellipse">
            <a:avLst/>
          </a:prstGeom>
          <a:solidFill>
            <a:srgbClr val="F1F3EC"/>
          </a:solidFill>
          <a:ln w="15875">
            <a:solidFill>
              <a:srgbClr val="1C2B2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10971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2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8972550" y="4590288"/>
            <a:ext cx="136588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70" dirty="0">
                <a:solidFill>
                  <a:srgbClr val="4A5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noise &amp; sparse sampling</a:t>
            </a:r>
            <a:endParaRPr lang="en-US" sz="870" dirty="0"/>
          </a:p>
        </p:txBody>
      </p:sp>
      <p:sp>
        <p:nvSpPr>
          <p:cNvPr id="53" name="Shape 51"/>
          <p:cNvSpPr/>
          <p:nvPr/>
        </p:nvSpPr>
        <p:spPr>
          <a:xfrm>
            <a:off x="9493758" y="4352544"/>
            <a:ext cx="1027557" cy="0"/>
          </a:xfrm>
          <a:prstGeom prst="line">
            <a:avLst/>
          </a:prstGeom>
          <a:noFill/>
          <a:ln w="9525">
            <a:solidFill>
              <a:srgbClr val="4A5A56"/>
            </a:solidFill>
            <a:prstDash val="dash"/>
          </a:ln>
        </p:spPr>
      </p:sp>
      <p:sp>
        <p:nvSpPr>
          <p:cNvPr id="54" name="Shape 52"/>
          <p:cNvSpPr/>
          <p:nvPr/>
        </p:nvSpPr>
        <p:spPr>
          <a:xfrm>
            <a:off x="10521315" y="4160520"/>
            <a:ext cx="384048" cy="384048"/>
          </a:xfrm>
          <a:prstGeom prst="ellipse">
            <a:avLst/>
          </a:prstGeom>
          <a:solidFill>
            <a:srgbClr val="F1F3EC"/>
          </a:solidFill>
          <a:ln w="15875">
            <a:solidFill>
              <a:srgbClr val="1C2B2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0521315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2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10384155" y="4590288"/>
            <a:ext cx="136588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70" dirty="0">
                <a:solidFill>
                  <a:srgbClr val="4A5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&amp; conclude</a:t>
            </a:r>
            <a:endParaRPr lang="en-US" sz="870" dirty="0"/>
          </a:p>
        </p:txBody>
      </p:sp>
      <p:sp>
        <p:nvSpPr>
          <p:cNvPr id="57" name="Shape 55"/>
          <p:cNvSpPr/>
          <p:nvPr/>
        </p:nvSpPr>
        <p:spPr>
          <a:xfrm>
            <a:off x="640080" y="5623560"/>
            <a:ext cx="10908792" cy="822960"/>
          </a:xfrm>
          <a:prstGeom prst="rect">
            <a:avLst/>
          </a:prstGeom>
          <a:solidFill>
            <a:srgbClr val="FBFBF6"/>
          </a:solidFill>
          <a:ln w="12700">
            <a:solidFill>
              <a:srgbClr val="DCDFCF"/>
            </a:solidFill>
            <a:prstDash val="solid"/>
          </a:ln>
          <a:effectLst>
            <a:outerShdw blurRad="127000" dist="38100" dir="5400000" algn="bl" rotWithShape="0">
              <a:srgbClr val="1C2B2A">
                <a:alpha val="10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914400" y="5623560"/>
            <a:ext cx="10378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C2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Deliverables:  </a:t>
            </a:r>
            <a:r>
              <a:rPr lang="en-US" sz="1200" dirty="0">
                <a:solidFill>
                  <a:srgbClr val="4A5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solver error/convergence plots, stability boundary, recovered β̂/γ̂ (via grid search refined by Gauss-Newton) vs. ground truth, and noise/sampling degradation curves — 9 core plots feeding the final report.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4A5A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COURSE ALIGNMENT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2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CSE 402 topics meet the project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method in our pipeline traces back to a specific week of the course outline — this isn't a separate track from the syllabus, it's an application of it.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10881360" cy="365760"/>
          </a:xfrm>
          <a:prstGeom prst="rect">
            <a:avLst/>
          </a:prstGeom>
          <a:solidFill>
            <a:srgbClr val="E7EAD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82880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4A5A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828800" y="18288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4A5A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CSE 402 TOPIC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0" y="1828800"/>
            <a:ext cx="5989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4A5A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IT'S USED IN THE PROJECT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40080" y="2249424"/>
            <a:ext cx="10881360" cy="749808"/>
          </a:xfrm>
          <a:prstGeom prst="rect">
            <a:avLst/>
          </a:prstGeom>
          <a:solidFill>
            <a:srgbClr val="FBFBF6"/>
          </a:solidFill>
          <a:ln w="12700">
            <a:solidFill>
              <a:srgbClr val="DCDFC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2468880"/>
            <a:ext cx="868680" cy="310896"/>
          </a:xfrm>
          <a:prstGeom prst="rect">
            <a:avLst/>
          </a:prstGeom>
          <a:solidFill>
            <a:srgbClr val="EDEFE4"/>
          </a:solidFill>
          <a:ln w="9525">
            <a:solidFill>
              <a:srgbClr val="D9DEC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468880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146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Wk 5–6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828800" y="2249424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C2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Systems of equations &amp; LU decomposition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0" y="2249424"/>
            <a:ext cx="5760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2A3B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Solving the sensitivity-equation Jacobian system that produces the dI/dβ and dI/dγ curves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0080" y="3108960"/>
            <a:ext cx="10881360" cy="749808"/>
          </a:xfrm>
          <a:prstGeom prst="rect">
            <a:avLst/>
          </a:prstGeom>
          <a:solidFill>
            <a:srgbClr val="FBFBF6"/>
          </a:solidFill>
          <a:ln w="12700">
            <a:solidFill>
              <a:srgbClr val="DCDFC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3328416"/>
            <a:ext cx="868680" cy="310896"/>
          </a:xfrm>
          <a:prstGeom prst="rect">
            <a:avLst/>
          </a:prstGeom>
          <a:solidFill>
            <a:srgbClr val="EDEFE4"/>
          </a:solidFill>
          <a:ln w="9525">
            <a:solidFill>
              <a:srgbClr val="D9DEC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328416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146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Wk 9–10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828800" y="3108960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C2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Optimization: golden-section, Newton's, gradient methods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0" y="3108960"/>
            <a:ext cx="5760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2A3B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Minimizing the least-squares cost functional J to recover point estimates of β and γ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0080" y="3968496"/>
            <a:ext cx="10881360" cy="749808"/>
          </a:xfrm>
          <a:prstGeom prst="rect">
            <a:avLst/>
          </a:prstGeom>
          <a:solidFill>
            <a:srgbClr val="FBFBF6"/>
          </a:solidFill>
          <a:ln w="12700">
            <a:solidFill>
              <a:srgbClr val="DCDFC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4187952"/>
            <a:ext cx="868680" cy="310896"/>
          </a:xfrm>
          <a:prstGeom prst="rect">
            <a:avLst/>
          </a:prstGeom>
          <a:solidFill>
            <a:srgbClr val="EDEFE4"/>
          </a:solidFill>
          <a:ln w="9525">
            <a:solidFill>
              <a:srgbClr val="D9DEC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4187952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146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Wk 9–10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828800" y="3968496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C2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Monte Carlo methods (Metropolis–Hastings)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0" y="3968496"/>
            <a:ext cx="5760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2A3B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Generating noise realizations for repeated-trial uncertainty quantification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40080" y="4828032"/>
            <a:ext cx="10881360" cy="749808"/>
          </a:xfrm>
          <a:prstGeom prst="rect">
            <a:avLst/>
          </a:prstGeom>
          <a:solidFill>
            <a:srgbClr val="FBFBF6"/>
          </a:solidFill>
          <a:ln w="12700">
            <a:solidFill>
              <a:srgbClr val="DCDFC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" y="5047488"/>
            <a:ext cx="868680" cy="310896"/>
          </a:xfrm>
          <a:prstGeom prst="rect">
            <a:avLst/>
          </a:prstGeom>
          <a:solidFill>
            <a:srgbClr val="EDEFE4"/>
          </a:solidFill>
          <a:ln w="9525">
            <a:solidFill>
              <a:srgbClr val="D9DEC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5047488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146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Wk 11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828800" y="4828032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C2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Least squares regression &amp; curve fitting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0" y="4828032"/>
            <a:ext cx="5760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2A3B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estimation engine: fitting the SIR model to synthetic prevalence data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40080" y="5687568"/>
            <a:ext cx="10881360" cy="749808"/>
          </a:xfrm>
          <a:prstGeom prst="rect">
            <a:avLst/>
          </a:prstGeom>
          <a:solidFill>
            <a:srgbClr val="FBFBF6"/>
          </a:solidFill>
          <a:ln w="12700">
            <a:solidFill>
              <a:srgbClr val="DCDFC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0080" y="5907024"/>
            <a:ext cx="868680" cy="310896"/>
          </a:xfrm>
          <a:prstGeom prst="rect">
            <a:avLst/>
          </a:prstGeom>
          <a:solidFill>
            <a:srgbClr val="EDEFE4"/>
          </a:solidFill>
          <a:ln w="9525">
            <a:solidFill>
              <a:srgbClr val="D9DEC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5907024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146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Wk 11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828800" y="5687568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C2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Numerical integration &amp; differentiation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572000" y="5687568"/>
            <a:ext cx="5760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2A3B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Computing incidence as the integral of βSI/N over each sampling interval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878</Words>
  <Application>Microsoft Office PowerPoint</Application>
  <PresentationFormat>Widescreen</PresentationFormat>
  <Paragraphs>123</Paragraphs>
  <Slides>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User</cp:lastModifiedBy>
  <cp:revision>2</cp:revision>
  <dcterms:created xsi:type="dcterms:W3CDTF">2026-08-15T05:21:28Z</dcterms:created>
  <dcterms:modified xsi:type="dcterms:W3CDTF">2026-08-15T18:59:12Z</dcterms:modified>
</cp:coreProperties>
</file>