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section/group, and supervisor. One sentence on the topic before moving to the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finding. State it once in plain language, then point at the crossover point on the chart. If time allows, this is a good place to switch to a live run instead of the static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base paper once. State the one-sentence gap. This slide is a setup for the method slide, keep it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right, then point at the equations. Mention the course methods list only if asked, don't read it aloud slide-by-slide.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software architecture, not the numerical method — configs drive the runner, the runner calls the hand-written core library, results are cached JSON, and the same JSON feeds both the report figures and the live dashboard. Mention the deployed link here if doing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three orders matching theory. The trap callout is a good spot for a question - invite it if the room is quiet.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Restate the one-line conclusion without reading it verbatim. Every member should be ready to speak to their own row when asked individually.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402 · NUMERICAL ANALYSIS, SIMULATION &amp; MODELING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Analysis of the SIR Epidemic Model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Accuracy, Parameter Recovery, and Robustness to Noise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869680" y="1234440"/>
            <a:ext cx="768096" cy="768096"/>
          </a:xfrm>
          <a:prstGeom prst="ellipse">
            <a:avLst/>
          </a:prstGeom>
          <a:solidFill>
            <a:srgbClr val="2F7F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0" y="1234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37776" y="1234440"/>
            <a:ext cx="192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56978" y="1234440"/>
            <a:ext cx="768096" cy="768096"/>
          </a:xfrm>
          <a:prstGeom prst="ellipse">
            <a:avLst/>
          </a:prstGeom>
          <a:solidFill>
            <a:srgbClr val="D43F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56978" y="1234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425074" y="1234440"/>
            <a:ext cx="192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444277" y="1234440"/>
            <a:ext cx="768096" cy="768096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44277" y="1234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[Section]</a:t>
            </a:r>
            <a:pPr indent="0" marL="0">
              <a:buNone/>
            </a:pPr>
            <a:r>
              <a:rPr lang="en-US" sz="135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Group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[Group Number]</a:t>
            </a:r>
            <a:pPr indent="0" marL="0">
              <a:buNone/>
            </a:pPr>
            <a:r>
              <a:rPr lang="en-US" sz="135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Final Project Defense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2105497" cy="1417320"/>
          </a:xfrm>
          <a:prstGeom prst="roundRect">
            <a:avLst>
              <a:gd name="adj" fmla="val 5161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" y="3867912"/>
            <a:ext cx="195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76072" y="4572000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[Student ID]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73009" y="3703320"/>
            <a:ext cx="2105497" cy="1417320"/>
          </a:xfrm>
          <a:prstGeom prst="roundRect">
            <a:avLst>
              <a:gd name="adj" fmla="val 5161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46161" y="3867912"/>
            <a:ext cx="195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846161" y="4572000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[Student ID]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43099" y="3703320"/>
            <a:ext cx="2105497" cy="1417320"/>
          </a:xfrm>
          <a:prstGeom prst="roundRect">
            <a:avLst>
              <a:gd name="adj" fmla="val 5161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16251" y="3867912"/>
            <a:ext cx="195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116251" y="4572000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[Student ID]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3188" y="3703320"/>
            <a:ext cx="2105497" cy="1417320"/>
          </a:xfrm>
          <a:prstGeom prst="roundRect">
            <a:avLst>
              <a:gd name="adj" fmla="val 5161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86340" y="3867912"/>
            <a:ext cx="195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386340" y="4572000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[Student ID]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583278" y="3703320"/>
            <a:ext cx="2105497" cy="1417320"/>
          </a:xfrm>
          <a:prstGeom prst="roundRect">
            <a:avLst>
              <a:gd name="adj" fmla="val 5161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56430" y="3867912"/>
            <a:ext cx="195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656430" y="4572000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[Student ID]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QUESTION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your choice of solver actually matter?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fit the SIR epidemic model using six solvers we wrote ourselves — from plain Forward Euler to adaptive Runge–Kutta — then asked when the solver you pick changes the answer.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BEEEF"/>
          </a:solidFill>
          <a:ln w="12700">
            <a:solidFill>
              <a:srgbClr val="F1D3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9718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σ*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solver choice is the main source of error.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σ*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noise drowns it out — any solver will do.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45720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572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σ* ≈ 0.058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45720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4572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case: h = 0.1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2472" y="1627632"/>
            <a:ext cx="5736031" cy="4482591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pic>
        <p:nvPicPr>
          <p:cNvPr id="12" name="Image 0" descr="/home/schatten/Desktop/4-1/Lab/CSE 402/CSE402-Project/deck/assets/e13_cross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737360"/>
            <a:ext cx="5516575" cy="426313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72200" y="6256527"/>
            <a:ext cx="5516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two lines cross is σ* — below it, solver bias (dashed) beats noise; above it, noise (solid) wins.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 paper treats the solver as a black box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2F7F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40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Capaldi et al. (2012)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4709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SIR model to outbreak data.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how confident we can be in the recovered β and γ.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accuracy drops as you sample less often.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39535" y="187452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59575" y="2194560"/>
            <a:ext cx="502920" cy="502920"/>
          </a:xfrm>
          <a:prstGeom prst="ellipse">
            <a:avLst/>
          </a:prstGeom>
          <a:solidFill>
            <a:srgbClr val="D43F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59575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99655" y="2240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59575" y="2926080"/>
            <a:ext cx="4709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ask which ODE solver produced those numbers, or how big a step size — the solver is just “whatever gets us the curve.”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440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D43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twist: we make the solver itself the experiment.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DID IT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six solvers, one exact reference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3712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892808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model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13432"/>
            <a:ext cx="2096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equations below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874188" y="17830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41116" y="1783080"/>
            <a:ext cx="23712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78276" y="1892808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solvers, hand-written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78276" y="2313432"/>
            <a:ext cx="2096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to adaptive RK45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12384" y="17830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79312" y="1783080"/>
            <a:ext cx="23712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16472" y="1892808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β, γ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16472" y="2313432"/>
            <a:ext cx="2096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50579" y="17830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317507" y="1783080"/>
            <a:ext cx="23712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54667" y="1892808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truth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54667" y="2313432"/>
            <a:ext cx="2096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exact, solver-free reference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4937760" cy="2331720"/>
          </a:xfrm>
          <a:prstGeom prst="roundRect">
            <a:avLst>
              <a:gd name="adj" fmla="val 3137"/>
            </a:avLst>
          </a:prstGeom>
          <a:solidFill>
            <a:srgbClr val="131A24"/>
          </a:solidFill>
          <a:ln/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33832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800" b="1" dirty="0">
                <a:solidFill>
                  <a:srgbClr val="2F7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/dt = −</a:t>
            </a:r>
            <a:pPr indent="0" marL="0">
              <a:buNone/>
            </a:pPr>
            <a:r>
              <a:rPr lang="en-US" sz="1800" b="1" dirty="0">
                <a:solidFill>
                  <a:srgbClr val="C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</a:t>
            </a:r>
            <a:pPr indent="0" marL="0">
              <a:buNone/>
            </a:pPr>
            <a:r>
              <a:rPr lang="en-US" sz="1800" b="1" dirty="0">
                <a:solidFill>
                  <a:srgbClr val="2F7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80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9502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80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/dt = </a:t>
            </a:r>
            <a:pPr indent="0" marL="0">
              <a:buNone/>
            </a:pPr>
            <a:r>
              <a:rPr lang="en-US" sz="1800" b="1" dirty="0">
                <a:solidFill>
                  <a:srgbClr val="C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</a:t>
            </a:r>
            <a:pPr indent="0" marL="0">
              <a:buNone/>
            </a:pPr>
            <a:r>
              <a:rPr lang="en-US" sz="1800" b="1" dirty="0">
                <a:solidFill>
                  <a:srgbClr val="2F7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80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 − </a:t>
            </a:r>
            <a:pPr indent="0" marL="0">
              <a:buNone/>
            </a:pPr>
            <a:r>
              <a:rPr lang="en-US" sz="1800" b="1" dirty="0">
                <a:solidFill>
                  <a:srgbClr val="8A5F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</a:t>
            </a:r>
            <a:pPr indent="0" marL="0">
              <a:buNone/>
            </a:pPr>
            <a:r>
              <a:rPr lang="en-US" sz="180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5171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800" b="1" dirty="0">
                <a:solidFill>
                  <a:srgbClr val="22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/dt = </a:t>
            </a:r>
            <a:pPr indent="0" marL="0">
              <a:buNone/>
            </a:pPr>
            <a:r>
              <a:rPr lang="en-US" sz="1800" b="1" dirty="0">
                <a:solidFill>
                  <a:srgbClr val="8A5F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</a:t>
            </a:r>
            <a:pPr indent="0" marL="0">
              <a:buNone/>
            </a:pPr>
            <a:r>
              <a:rPr lang="en-US" sz="180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3063240"/>
            <a:ext cx="5882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solution comes from an exact algebraic reduction of these equations — no numerical solver involved — so every accuracy claim is checked against the truth, not a finer guess.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806440" y="43891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06440" y="43891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finding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50608" y="43891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50608" y="43891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 &amp; QR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0456" y="43891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0456" y="4389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method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747504" y="43891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47504" y="4389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least squares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06440" y="47731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06440" y="47731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quadrature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50608" y="477316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50608" y="47731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&amp; MCMC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config file becomes a live result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992728" y="1691640"/>
            <a:ext cx="42062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221328" y="1691640"/>
            <a:ext cx="374904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configs/*.yaml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221328" y="1956816"/>
            <a:ext cx="374904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config per experiment — quick &amp; full profiles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821528" y="2240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92728" y="2514600"/>
            <a:ext cx="42062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221328" y="2514600"/>
            <a:ext cx="374904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runner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21328" y="2779776"/>
            <a:ext cx="374904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experiments/registry.py routes E01 – E14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3063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92728" y="3337560"/>
            <a:ext cx="4206240" cy="960120"/>
          </a:xfrm>
          <a:prstGeom prst="roundRect">
            <a:avLst>
              <a:gd name="adj" fmla="val 6667"/>
            </a:avLst>
          </a:prstGeom>
          <a:solidFill>
            <a:srgbClr val="131A24"/>
          </a:solidFill>
          <a:ln w="12700">
            <a:solidFill>
              <a:srgbClr val="131A24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21328" y="3337560"/>
            <a:ext cx="37490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core/sirlab — hand-written, no SciPy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065880" y="3904488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24303F"/>
          </a:solidFill>
          <a:ln w="9525">
            <a:solidFill>
              <a:srgbClr val="3A4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65880" y="390448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08296" y="3904488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24303F"/>
          </a:solidFill>
          <a:ln w="9525">
            <a:solidFill>
              <a:srgbClr val="3A4A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08296" y="390448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50712" y="3904488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24303F"/>
          </a:solidFill>
          <a:ln w="9525">
            <a:solidFill>
              <a:srgbClr val="3A4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50712" y="390448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93128" y="3904488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24303F"/>
          </a:solidFill>
          <a:ln w="9525">
            <a:solidFill>
              <a:srgbClr val="3A4A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93128" y="390448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uq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821528" y="4315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92728" y="4590288"/>
            <a:ext cx="42062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221328" y="4590288"/>
            <a:ext cx="374904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results/*.json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221328" y="4855464"/>
            <a:ext cx="374904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content-hash cached · seeded · git-SHA tagged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2132" y="5120640"/>
            <a:ext cx="27432" cy="292608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4427068" y="5413248"/>
            <a:ext cx="3337560" cy="27432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28" name="Shape 26"/>
          <p:cNvSpPr/>
          <p:nvPr/>
        </p:nvSpPr>
        <p:spPr>
          <a:xfrm>
            <a:off x="4413352" y="5413248"/>
            <a:ext cx="27432" cy="27432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29" name="Shape 27"/>
          <p:cNvSpPr/>
          <p:nvPr/>
        </p:nvSpPr>
        <p:spPr>
          <a:xfrm>
            <a:off x="7750912" y="5413248"/>
            <a:ext cx="27432" cy="27432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30" name="Shape 28"/>
          <p:cNvSpPr/>
          <p:nvPr/>
        </p:nvSpPr>
        <p:spPr>
          <a:xfrm>
            <a:off x="3009748" y="56875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FBEEEF"/>
          </a:solidFill>
          <a:ln w="12700">
            <a:solidFill>
              <a:srgbClr val="F1D3D6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3238348" y="5687568"/>
            <a:ext cx="23774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figures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3238348" y="6076188"/>
            <a:ext cx="2377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scripts/make_figures.py → the LaTeX report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47308" y="56875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EAF2EC"/>
          </a:solidFill>
          <a:ln w="12700">
            <a:solidFill>
              <a:srgbClr val="CFE3D5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575908" y="5687568"/>
            <a:ext cx="23774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575908" y="6076188"/>
            <a:ext cx="2377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live, interactive — deployed for this defense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 error behaves exactly like the textbook says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93192" y="1627632"/>
            <a:ext cx="6025896" cy="5107573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pic>
        <p:nvPicPr>
          <p:cNvPr id="5" name="Image 0" descr="/home/schatten/Desktop/4-1/Lab/CSE 402/CSE402-Project/deck/assets/e01_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5806440" cy="48881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6854077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the step size — each solver's error shrinks at exactly its own theoretical rate.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720840" y="1737360"/>
            <a:ext cx="154625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720840" y="1810512"/>
            <a:ext cx="154625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3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1.03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2502713"/>
            <a:ext cx="154625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Euler, order 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31682" y="1737360"/>
            <a:ext cx="154625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431682" y="1810512"/>
            <a:ext cx="154625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1.94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431682" y="2502713"/>
            <a:ext cx="154625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Heun, order 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142525" y="1737360"/>
            <a:ext cx="154625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0142525" y="1810512"/>
            <a:ext cx="154625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A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3.94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10142525" y="2502713"/>
            <a:ext cx="154625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RK4, order 4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3154680"/>
            <a:ext cx="4967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order matches the predicted order almost exactly — the same error then carries straight through into the fitted β.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720840" y="4251960"/>
            <a:ext cx="496793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6949440" y="4389120"/>
            <a:ext cx="4510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trap we almost fell for: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S+I+R = N looks perfect even when the solve is completely wrong. It's not a real accuracy check — we needed the exact reference instead.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σ*, the numerical method is the answer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830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crossover noise level, the solver and step size you choose decide whether your epidemic estimate is trustworthy. Above it, more data matters more than a fancier solver.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060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full-scale experiment grid, verify the 1666 Eyam outbreak data against the original source, and test whether the crossover still holds for stiffer, higher-dimensional models.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566160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5661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</a:t>
            </a:r>
            <a:pPr indent="0" marL="0">
              <a:buNone/>
            </a:pPr>
            <a:r>
              <a:rPr lang="en-US" sz="1100" dirty="0">
                <a:solidFill>
                  <a:srgbClr val="9F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numerics core: the model, six solvers, exact reference solution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096512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965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</a:t>
            </a:r>
            <a:pPr indent="0" marL="0">
              <a:buNone/>
            </a:pPr>
            <a:r>
              <a:rPr lang="en-US" sz="1100" dirty="0">
                <a:solidFill>
                  <a:srgbClr val="9F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eigenvalues, testing, and this report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626864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626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</a:t>
            </a:r>
            <a:pPr indent="0" marL="0">
              <a:buNone/>
            </a:pPr>
            <a:r>
              <a:rPr lang="en-US" sz="1100" dirty="0">
                <a:solidFill>
                  <a:srgbClr val="9F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fitting and uncertainty quantification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157216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15721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</a:t>
            </a:r>
            <a:pPr indent="0" marL="0">
              <a:buNone/>
            </a:pPr>
            <a:r>
              <a:rPr lang="en-US" sz="1100" dirty="0">
                <a:solidFill>
                  <a:srgbClr val="9F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interactive web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5687568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687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</a:t>
            </a:r>
            <a:pPr indent="0" marL="0">
              <a:buNone/>
            </a:pPr>
            <a:r>
              <a:rPr lang="en-US" sz="1100" dirty="0">
                <a:solidFill>
                  <a:srgbClr val="9F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experiment pipeline, model variants, real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510735" cy="4389120"/>
          </a:xfrm>
          <a:prstGeom prst="roundRect">
            <a:avLst>
              <a:gd name="adj" fmla="val 2083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57336" y="2286000"/>
            <a:ext cx="694944" cy="694944"/>
          </a:xfrm>
          <a:prstGeom prst="ellipse">
            <a:avLst/>
          </a:prstGeom>
          <a:solidFill>
            <a:srgbClr val="2F7FD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57336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52280" y="2286000"/>
            <a:ext cx="173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69653" y="2286000"/>
            <a:ext cx="694944" cy="694944"/>
          </a:xfrm>
          <a:prstGeom prst="ellipse">
            <a:avLst/>
          </a:prstGeom>
          <a:solidFill>
            <a:srgbClr val="D43F4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69653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264597" y="2286000"/>
            <a:ext cx="173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281971" y="2286000"/>
            <a:ext cx="694944" cy="694944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81971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063240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56616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16052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4434840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9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github.com/g-schatten/CSE402-Project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Analysis of the SIR Epidemic Model</dc:title>
  <dc:subject>PptxGenJS Presentation</dc:subject>
  <dc:creator>CSE 402 Group</dc:creator>
  <cp:lastModifiedBy>CSE 402 Group</cp:lastModifiedBy>
  <cp:revision>1</cp:revision>
  <dcterms:created xsi:type="dcterms:W3CDTF">2026-09-27T01:30:34Z</dcterms:created>
  <dcterms:modified xsi:type="dcterms:W3CDTF">2026-09-27T01:30:34Z</dcterms:modified>
</cp:coreProperties>
</file>