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section/group, and supervisor. One sentence on the topic before moving to the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State it once in plain language, then point at the crossover point on the chart. If time allows, this is a good place to switch to a live run instead of the static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base paper once. State the one-sentence gap. This slide is a setup for the method slide, keep it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right, then point at the equations. Mention the course methods list only if asked, don't read it aloud slide-by-slide.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three orders matching theory. The trap callout is a good spot for a question - invite it if the room is quiet.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one-line conclusion without reading it verbatim. Every member should be ready to speak to their own row when asked individually.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402 · NUMERICAL ANALYSIS, SIMULATION &amp; MODELING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Analysis of the SIR Epidemic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Accuracy, Parameter Recovery, and Robustness to Noise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869680" y="1234440"/>
            <a:ext cx="768096" cy="768096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0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37776" y="1234440"/>
            <a:ext cx="192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56978" y="1234440"/>
            <a:ext cx="768096" cy="768096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56978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425074" y="1234440"/>
            <a:ext cx="1920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444277" y="1234440"/>
            <a:ext cx="768096" cy="768096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444277" y="1234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[Section]</a:t>
            </a:r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Group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Number]</a:t>
            </a:r>
            <a:pPr indent="0" marL="0">
              <a:buNone/>
            </a:pPr>
            <a:r>
              <a:rPr lang="en-US" sz="1350" dirty="0">
                <a:solidFill>
                  <a:srgbClr val="AA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Final Project Defense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73009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46161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46161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43099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16251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116251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3188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86340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386340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583278" y="3703320"/>
            <a:ext cx="2105497" cy="1417320"/>
          </a:xfrm>
          <a:prstGeom prst="roundRect">
            <a:avLst>
              <a:gd name="adj" fmla="val 5161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56430" y="3867912"/>
            <a:ext cx="195919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Name]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656430" y="4572000"/>
            <a:ext cx="19591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[Student ID]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QUESTION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your choice of solver actually matter?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916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fit the SIR epidemic model using six solvers we wrote ourselves — from plain Forward Euler to adaptive Runge–Kutta — then asked when the solver you pick changes the answer.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EEF"/>
          </a:solidFill>
          <a:ln w="12700">
            <a:solidFill>
              <a:srgbClr val="F1D3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97180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σ*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solver choice is the main source of error.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σ*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noise drowns it out — any solver will 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σ* ≈ 0.058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17520" y="4572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case: h = 0.1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2472" y="1627632"/>
            <a:ext cx="5736031" cy="4482591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pic>
        <p:nvPicPr>
          <p:cNvPr id="12" name="Image 0" descr="/home/schatten/Desktop/4-1/Lab/CSE 402/CSE402-Project/deck/assets/e13_cross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516575" cy="426313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172200" y="6256527"/>
            <a:ext cx="5516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lines cross is σ* — below it, solver bias (dashed) beats noise; above it, noise (solid) wins.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paper treats the solver as a black box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Capaldi et al. (2012)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SIR model to outbreak data.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how confident we can be in the recovered β and γ.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accuracy drops as you sample less often.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39535" y="187452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9575" y="2194560"/>
            <a:ext cx="502920" cy="502920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59575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99655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59575" y="2926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ask which ODE solver produced those numbers, or how big a step size — the solver is just “whatever gets us the curve.”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440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D43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twist: we make the solver itself the experiment.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DID IT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six solvers, one exact reference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model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equations below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74188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41116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8276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solvers, hand-written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78276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 to adaptive RK45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12384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79312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16472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β, 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16472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50579" y="178308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317507" y="1783080"/>
            <a:ext cx="237126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54667" y="1892808"/>
            <a:ext cx="2096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truth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54667" y="2313432"/>
            <a:ext cx="2096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exact, solver-free reference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6324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131A24"/>
          </a:solidFill>
          <a:ln/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33832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−</a:t>
            </a:r>
            <a:pPr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9502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</a:t>
            </a:r>
            <a:pPr indent="0" marL="0">
              <a:buNone/>
            </a:pPr>
            <a:r>
              <a:rPr lang="en-US" sz="1800" b="1" dirty="0">
                <a:solidFill>
                  <a:srgbClr val="C98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</a:t>
            </a:r>
            <a:pPr indent="0" marL="0">
              <a:buNone/>
            </a:pPr>
            <a:r>
              <a:rPr lang="en-US" sz="1800" b="1" dirty="0">
                <a:solidFill>
                  <a:srgbClr val="2F7F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 − </a:t>
            </a:r>
            <a:pPr indent="0" marL="0">
              <a:buNone/>
            </a:pPr>
            <a:r>
              <a:rPr lang="en-US" sz="1800" b="1" dirty="0">
                <a:solidFill>
                  <a:srgbClr val="8A5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5171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indent="0" marL="0">
              <a:buNone/>
            </a:pPr>
            <a:r>
              <a:rPr lang="en-US" sz="1800" b="1" dirty="0">
                <a:solidFill>
                  <a:srgbClr val="22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/dt = </a:t>
            </a:r>
            <a:pPr indent="0" marL="0">
              <a:buNone/>
            </a:pPr>
            <a:r>
              <a:rPr lang="en-US" sz="1800" b="1" dirty="0">
                <a:solidFill>
                  <a:srgbClr val="8A5F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</a:t>
            </a:r>
            <a:pPr indent="0" marL="0">
              <a:buNone/>
            </a:pPr>
            <a:r>
              <a:rPr lang="en-US" sz="1800" b="1" dirty="0">
                <a:solidFill>
                  <a:srgbClr val="D43F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3063240"/>
            <a:ext cx="5882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solution comes from an exact algebraic reduction of these equations — no numerical solver involved — so every accuracy claim is checked against the truth, not a finer guess.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806440" y="43891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06440" y="4389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finding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50608" y="4389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43891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 &amp; QR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0456" y="43891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0456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method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47504" y="438912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47504" y="4389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least squares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06440" y="47731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47731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quadrature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50608" y="4773168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50608" y="4773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Monte Carlo &amp; MCMC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3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1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Solver error behaves exactly like the textbook says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93192" y="1627632"/>
            <a:ext cx="6025896" cy="5107573"/>
          </a:xfrm>
          <a:prstGeom prst="roundRect">
            <a:avLst>
              <a:gd name="adj" fmla="val 107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pic>
        <p:nvPicPr>
          <p:cNvPr id="5" name="Image 0" descr="/home/schatten/Desktop/4-1/Lab/CSE 402/CSE402-Project/deck/assets/e01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806440" cy="48881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854077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the step size — each solver's error shrinks at exactly its own theoretical rate.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720840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720840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3F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720840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Euler, order 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431682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431682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431682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Heun, order 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142525" y="1737360"/>
            <a:ext cx="154625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88900" dist="25400" dir="5400000">
              <a:srgbClr val="131A24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142525" y="1810512"/>
            <a:ext cx="154625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3.94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10142525" y="2502713"/>
            <a:ext cx="154625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RK4, order 4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3154680"/>
            <a:ext cx="4967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order matches the predicted order almost exactly — the same error then carries straight through into the fitted β.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720840" y="4251960"/>
            <a:ext cx="4967935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949440" y="4389120"/>
            <a:ext cx="45107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trap we almost fell for: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D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S+I+R = N looks perfect even when the solve is completely wrong. It's not a real accuracy check — we needed the exact reference instead.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σ*, the numerical method is the answer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7830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crossover noise level, the solver and step size you choose decide whether your epidemic estimate is trustworthy. Above it, more data matters more than a fancier solver.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060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3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full-scale experiment grid, verify the 1666 Eyam outbreak data against the original source, and test whether the crossover still holds for stiffer, higher-dimensional models.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566160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566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numerics core: the model, six solvers, exact reference solution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096512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096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eigenvalues, testing, and this 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626864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626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fitting and uncertainty quantification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5157216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5721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interactive web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6875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687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</a:t>
            </a:r>
            <a:pPr indent="0" marL="0">
              <a:buNone/>
            </a:pPr>
            <a:r>
              <a:rPr lang="en-US" sz="1100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experiment pipeline, model variants, real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510735" cy="4389120"/>
          </a:xfrm>
          <a:prstGeom prst="roundRect">
            <a:avLst>
              <a:gd name="adj" fmla="val 2083"/>
            </a:avLst>
          </a:prstGeom>
          <a:solidFill>
            <a:srgbClr val="1E2836"/>
          </a:solidFill>
          <a:ln w="12700">
            <a:solidFill>
              <a:srgbClr val="313D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57336" y="2286000"/>
            <a:ext cx="694944" cy="694944"/>
          </a:xfrm>
          <a:prstGeom prst="ellipse">
            <a:avLst/>
          </a:prstGeom>
          <a:solidFill>
            <a:srgbClr val="2F7F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57336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52280" y="2286000"/>
            <a:ext cx="173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69653" y="2286000"/>
            <a:ext cx="694944" cy="694944"/>
          </a:xfrm>
          <a:prstGeom prst="ellipse">
            <a:avLst/>
          </a:prstGeom>
          <a:solidFill>
            <a:srgbClr val="D43F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69653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264597" y="2286000"/>
            <a:ext cx="1737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281971" y="2286000"/>
            <a:ext cx="694944" cy="694944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81971" y="228600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063240"/>
            <a:ext cx="4510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56616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160520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4434840"/>
            <a:ext cx="4144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9A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github.com/g-schatten/CSE402-Project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Analysis of the SIR Epidemic Model</dc:title>
  <dc:subject>PptxGenJS Presentation</dc:subject>
  <dc:creator>CSE 402 Group</dc:creator>
  <cp:lastModifiedBy>CSE 402 Group</cp:lastModifiedBy>
  <cp:revision>1</cp:revision>
  <dcterms:created xsi:type="dcterms:W3CDTF">2026-09-26T18:19:27Z</dcterms:created>
  <dcterms:modified xsi:type="dcterms:W3CDTF">2026-09-26T18:19:27Z</dcterms:modified>
</cp:coreProperties>
</file>